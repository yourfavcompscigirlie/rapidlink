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6583680" y="182880"/>
            <a:ext cx="4572000" cy="54864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5" y="1"/>
                </a:lnTo>
                <a:lnTo>
                  <a:pt x="5" y="2"/>
                </a:lnTo>
                <a:lnTo>
                  <a:pt x="5" y="3"/>
                </a:lnTo>
                <a:lnTo>
                  <a:pt x="5" y="5"/>
                </a:lnTo>
                <a:lnTo>
                  <a:pt x="4" y="6"/>
                </a:lnTo>
                <a:lnTo>
                  <a:pt x="2" y="6"/>
                </a:lnTo>
                <a:lnTo>
                  <a:pt x="1" y="6"/>
                </a:lnTo>
                <a:lnTo>
                  <a:pt x="0" y="4"/>
                </a:lnTo>
                <a:lnTo>
                  <a:pt x="1" y="3"/>
                </a:lnTo>
                <a:lnTo>
                  <a:pt x="0" y="2"/>
                </a:lnTo>
                <a:close/>
              </a:path>
            </a:pathLst>
          </a:custGeom>
          <a:solidFill>
            <a:srgbClr val="102B58"/>
          </a:solidFill>
          <a:ln w="12700">
            <a:solidFill>
              <a:srgbClr val="173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12280" y="960120"/>
            <a:ext cx="4526280" cy="137160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0" y="1965960"/>
            <a:ext cx="4434840" cy="347472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7132320" y="3246120"/>
            <a:ext cx="4160520" cy="219456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452360" y="594360"/>
            <a:ext cx="914400" cy="539496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006840" y="320040"/>
            <a:ext cx="457200" cy="594360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360920" y="822960"/>
            <a:ext cx="3520440" cy="365760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903720" y="2880360"/>
            <a:ext cx="4572000" cy="27432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4663440"/>
            <a:ext cx="3749040" cy="22860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75320" y="1051560"/>
            <a:ext cx="3246120" cy="342900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98079" y="960120"/>
            <a:ext cx="3337560" cy="4434840"/>
          </a:xfrm>
          <a:prstGeom prst="ellipse">
            <a:avLst/>
          </a:prstGeom>
          <a:noFill/>
          <a:ln w="15240">
            <a:solidFill>
              <a:srgbClr val="173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15300" y="1028700"/>
            <a:ext cx="502920" cy="502920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8206740" y="1337310"/>
            <a:ext cx="320040" cy="342900"/>
          </a:xfrm>
          <a:prstGeom prst="triangl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61020" y="1131569"/>
            <a:ext cx="411479" cy="411479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03895" y="1274444"/>
            <a:ext cx="125730" cy="1257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68711" y="1975103"/>
            <a:ext cx="402336" cy="402336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10341863" y="2221991"/>
            <a:ext cx="256032" cy="274320"/>
          </a:xfrm>
          <a:prstGeom prst="triangl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05288" y="2057400"/>
            <a:ext cx="329184" cy="329184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19588" y="2171700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7068" y="3842308"/>
            <a:ext cx="362102" cy="362102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10800000">
            <a:off x="7702905" y="4064508"/>
            <a:ext cx="230428" cy="246888"/>
          </a:xfrm>
          <a:prstGeom prst="triangl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9987" y="3916375"/>
            <a:ext cx="296265" cy="296265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857" y="4019245"/>
            <a:ext cx="90525" cy="90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15576" y="4660696"/>
            <a:ext cx="462686" cy="462686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10800000">
            <a:off x="9499701" y="4944618"/>
            <a:ext cx="294436" cy="315468"/>
          </a:xfrm>
          <a:prstGeom prst="triangl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57639" y="4755337"/>
            <a:ext cx="378561" cy="378561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9084" y="4886782"/>
            <a:ext cx="115671" cy="1156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97180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7F91AF"/>
                </a:solidFill>
                <a:latin typeface="DejaVu Sans"/>
              </a:rPr>
              <a:t>TSHWANE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1005840"/>
            <a:ext cx="109728" cy="4343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100584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EE3651"/>
                </a:solidFill>
                <a:latin typeface="DejaVu Sans"/>
              </a:rPr>
              <a:t>TSHWANE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1325880"/>
            <a:ext cx="557784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DejaVu Sans"/>
              </a:rPr>
              <a:t>RapidLink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2450592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DejaVu Sans"/>
              </a:rPr>
              <a:t>Every minute saved
is a life saved.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39136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B8C4D9"/>
                </a:solidFill>
                <a:latin typeface="DejaVu Sans"/>
              </a:rPr>
              <a:t>Tshwane Varsity Hackathon 2026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" y="4590288"/>
            <a:ext cx="3337560" cy="512064"/>
          </a:xfrm>
          <a:prstGeom prst="roundRect">
            <a:avLst/>
          </a:prstGeom>
          <a:solidFill>
            <a:srgbClr val="102B58"/>
          </a:solidFill>
          <a:ln w="12700">
            <a:solidFill>
              <a:srgbClr val="173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3584" y="469087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B8C4D9"/>
                </a:solidFill>
                <a:latin typeface="DejaVu Sans"/>
              </a:rPr>
              <a:t>TEAM NAME  /  __________________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98932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7F91AF"/>
                </a:solidFill>
                <a:latin typeface="DejaVu Sans"/>
              </a:rPr>
              <a:t>CONNECTED EMERGENCY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2179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F91AF"/>
                </a:solidFill>
                <a:latin typeface="DejaVu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THE RESPONSE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658368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F91AF"/>
                </a:solidFill>
                <a:latin typeface="DejaVu San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81328"/>
            <a:ext cx="3977639" cy="100584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18488"/>
            <a:ext cx="9875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EE3651"/>
                </a:solidFill>
                <a:latin typeface="DejaVu Sans"/>
              </a:rPr>
              <a:t>3.5M+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636776"/>
            <a:ext cx="242316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DejaVu Sans"/>
              </a:rPr>
              <a:t>residents depend on one citywide emergency ecosystem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724912"/>
            <a:ext cx="3977639" cy="100584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862072"/>
            <a:ext cx="9875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EE3651"/>
                </a:solidFill>
                <a:latin typeface="DejaVu Sans"/>
              </a:rPr>
              <a:t>SILOS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880360"/>
            <a:ext cx="242316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DejaVu Sans"/>
              </a:rPr>
              <a:t>police, fire, ambulance and communities lack one shared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968496"/>
            <a:ext cx="3977639" cy="100584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105656"/>
            <a:ext cx="9875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EE3651"/>
                </a:solidFill>
                <a:latin typeface="DejaVu Sans"/>
              </a:rPr>
              <a:t>5×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123944"/>
            <a:ext cx="242316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DejaVu Sans"/>
              </a:rPr>
              <a:t>slower response can separate township and affluent areas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481328"/>
            <a:ext cx="6675120" cy="422452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1481328"/>
            <a:ext cx="3337560" cy="4224528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1700784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3213A"/>
                </a:solidFill>
                <a:latin typeface="DejaVu Sans"/>
              </a:rPr>
              <a:t>TOWNSHIP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975104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C8102E"/>
                </a:solidFill>
                <a:latin typeface="DejaVu Sans"/>
              </a:rPr>
              <a:t>40+ MIN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93792" y="5175504"/>
            <a:ext cx="2697480" cy="0"/>
          </a:xfrm>
          <a:prstGeom prst="line">
            <a:avLst/>
          </a:prstGeom>
          <a:ln w="25400">
            <a:solidFill>
              <a:srgbClr val="7F91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257800" y="4133087"/>
            <a:ext cx="658368" cy="713232"/>
          </a:xfrm>
          <a:prstGeom prst="rect">
            <a:avLst/>
          </a:prstGeom>
          <a:solidFill>
            <a:srgbClr val="B9C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5212080" y="3931920"/>
            <a:ext cx="749808" cy="274320"/>
          </a:xfrm>
          <a:prstGeom prst="triangle">
            <a:avLst/>
          </a:prstGeom>
          <a:solidFill>
            <a:srgbClr val="7F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61888" y="3803904"/>
            <a:ext cx="777240" cy="1042415"/>
          </a:xfrm>
          <a:prstGeom prst="rect">
            <a:avLst/>
          </a:prstGeom>
          <a:solidFill>
            <a:srgbClr val="B9C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5916168" y="3602736"/>
            <a:ext cx="868680" cy="274320"/>
          </a:xfrm>
          <a:prstGeom prst="triangle">
            <a:avLst/>
          </a:prstGeom>
          <a:solidFill>
            <a:srgbClr val="7F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03136" y="4242816"/>
            <a:ext cx="603504" cy="603504"/>
          </a:xfrm>
          <a:prstGeom prst="rect">
            <a:avLst/>
          </a:prstGeom>
          <a:solidFill>
            <a:srgbClr val="B9C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6757416" y="4041648"/>
            <a:ext cx="694944" cy="274320"/>
          </a:xfrm>
          <a:prstGeom prst="triangle">
            <a:avLst/>
          </a:prstGeom>
          <a:solidFill>
            <a:srgbClr val="7F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61504" y="3950208"/>
            <a:ext cx="502920" cy="896112"/>
          </a:xfrm>
          <a:prstGeom prst="rect">
            <a:avLst/>
          </a:prstGeom>
          <a:solidFill>
            <a:srgbClr val="B9C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>
            <a:off x="7415783" y="3749040"/>
            <a:ext cx="594360" cy="274320"/>
          </a:xfrm>
          <a:prstGeom prst="triangle">
            <a:avLst/>
          </a:prstGeom>
          <a:solidFill>
            <a:srgbClr val="7F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596128" y="2788920"/>
            <a:ext cx="0" cy="1216152"/>
          </a:xfrm>
          <a:prstGeom prst="line">
            <a:avLst/>
          </a:prstGeom>
          <a:ln w="19050">
            <a:solidFill>
              <a:srgbClr val="7F91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40680" y="2999232"/>
            <a:ext cx="548640" cy="0"/>
          </a:xfrm>
          <a:prstGeom prst="line">
            <a:avLst/>
          </a:prstGeom>
          <a:ln w="19050">
            <a:solidFill>
              <a:srgbClr val="7F91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85632" y="170078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3213A"/>
                </a:solidFill>
                <a:latin typeface="DejaVu Sans"/>
              </a:rPr>
              <a:t>AFFLUENT AREA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1975104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0A1F44"/>
                </a:solidFill>
                <a:latin typeface="DejaVu Sans"/>
              </a:rPr>
              <a:t>8–12 MIN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22208" y="5175504"/>
            <a:ext cx="2743200" cy="0"/>
          </a:xfrm>
          <a:prstGeom prst="line">
            <a:avLst/>
          </a:prstGeom>
          <a:ln w="25400">
            <a:solidFill>
              <a:srgbClr val="7F91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650224" y="4114800"/>
            <a:ext cx="6949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F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8577072" y="3840480"/>
            <a:ext cx="841248" cy="384048"/>
          </a:xfrm>
          <a:prstGeom prst="triangl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5400" y="4471416"/>
            <a:ext cx="164592" cy="393192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56064" y="4114800"/>
            <a:ext cx="6949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F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9582912" y="3840480"/>
            <a:ext cx="841248" cy="384048"/>
          </a:xfrm>
          <a:prstGeom prst="triangl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21240" y="4471416"/>
            <a:ext cx="164592" cy="393192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70464" y="4114800"/>
            <a:ext cx="6949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F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10497312" y="3840480"/>
            <a:ext cx="841248" cy="384048"/>
          </a:xfrm>
          <a:prstGeom prst="triangl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835640" y="4471416"/>
            <a:ext cx="164592" cy="393192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90688" y="2761488"/>
            <a:ext cx="877824" cy="8778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918704" y="2889504"/>
            <a:ext cx="621792" cy="621792"/>
          </a:xfrm>
          <a:prstGeom prst="ellipse">
            <a:avLst/>
          </a:prstGeom>
          <a:noFill/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8229600" y="3032516"/>
            <a:ext cx="0" cy="167884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29600" y="3200400"/>
            <a:ext cx="130576" cy="37307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06740" y="3177540"/>
            <a:ext cx="45720" cy="4572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58795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EE3651"/>
                </a:solidFill>
                <a:latin typeface="DejaVu Sans"/>
              </a:rPr>
              <a:t>TIME = OUTCOME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651052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7F91AF"/>
                </a:solidFill>
                <a:latin typeface="DejaVu Sans"/>
              </a:rPr>
              <a:t>TSHWANE RAPIDLINK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7F91AF"/>
                </a:solidFill>
                <a:latin typeface="DejaVu Sans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FRAGMENTED IN. FRAGMENTED OUT.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658368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F91AF"/>
                </a:solidFill>
                <a:latin typeface="DejaVu San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89888"/>
            <a:ext cx="5532120" cy="804672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1609344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093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517904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DejaVu Sans"/>
              </a:rPr>
              <a:t>Too many entry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1773936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4D9"/>
                </a:solidFill>
                <a:latin typeface="DejaVu Sans"/>
              </a:rPr>
              <a:t>Calls, WhatsApp, social media and walk-ins.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432304"/>
            <a:ext cx="5532120" cy="804672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" y="2651760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651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2560320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DejaVu Sans"/>
              </a:rPr>
              <a:t>Location is unclear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2816352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4D9"/>
                </a:solidFill>
                <a:latin typeface="DejaVu Sans"/>
              </a:rPr>
              <a:t>Informal settlements often lack street addresses.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474720"/>
            <a:ext cx="5532120" cy="804672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2" y="3694176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9417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602736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DejaVu Sans"/>
              </a:rPr>
              <a:t>Dispatch is disconnected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858768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4D9"/>
                </a:solidFill>
                <a:latin typeface="DejaVu Sans"/>
              </a:rPr>
              <a:t>Each agency acts separately, with no coordination.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517136"/>
            <a:ext cx="5532120" cy="804672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736592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7365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4645151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DejaVu Sans"/>
              </a:rPr>
              <a:t>Access excludes people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5024" y="4901183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4D9"/>
                </a:solidFill>
                <a:latin typeface="DejaVu Sans"/>
              </a:rPr>
              <a:t>No airtime, data or address can mean no help.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73952" y="1389888"/>
            <a:ext cx="5102352" cy="4425696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84848" y="1828800"/>
            <a:ext cx="1024128" cy="438912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1828800"/>
            <a:ext cx="10241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ejaVu Sans"/>
              </a:rPr>
              <a:t>CALL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96912" y="2048256"/>
            <a:ext cx="1645920" cy="1207008"/>
          </a:xfrm>
          <a:prstGeom prst="line">
            <a:avLst/>
          </a:prstGeom>
          <a:ln w="16510">
            <a:solidFill>
              <a:srgbClr val="EE3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75320" y="1600200"/>
            <a:ext cx="1024128" cy="438912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1600200"/>
            <a:ext cx="10241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ejaVu Sans"/>
              </a:rPr>
              <a:t>CHAT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87384" y="1819656"/>
            <a:ext cx="155448" cy="1435608"/>
          </a:xfrm>
          <a:prstGeom prst="line">
            <a:avLst/>
          </a:prstGeom>
          <a:ln w="16510">
            <a:solidFill>
              <a:srgbClr val="EE3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75520" y="1874519"/>
            <a:ext cx="1024128" cy="438912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1874519"/>
            <a:ext cx="10241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ejaVu Sans"/>
              </a:rPr>
              <a:t>SOCIAL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8942832" y="2093976"/>
            <a:ext cx="1444752" cy="1161288"/>
          </a:xfrm>
          <a:prstGeom prst="line">
            <a:avLst/>
          </a:prstGeom>
          <a:ln w="16510">
            <a:solidFill>
              <a:srgbClr val="EE3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95560" y="4297680"/>
            <a:ext cx="1024128" cy="438912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4297680"/>
            <a:ext cx="10241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ejaVu Sans"/>
              </a:rPr>
              <a:t>WALK-IN</a:t>
            </a:r>
          </a:p>
        </p:txBody>
      </p:sp>
      <p:cxnSp>
        <p:nvCxnSpPr>
          <p:cNvPr id="38" name="Connector 37"/>
          <p:cNvCxnSpPr/>
          <p:nvPr/>
        </p:nvCxnSpPr>
        <p:spPr>
          <a:xfrm flipH="1" flipV="1">
            <a:off x="8942832" y="3255264"/>
            <a:ext cx="1764792" cy="1261872"/>
          </a:xfrm>
          <a:prstGeom prst="line">
            <a:avLst/>
          </a:prstGeom>
          <a:ln w="16510">
            <a:solidFill>
              <a:srgbClr val="EE3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321040" y="4828032"/>
            <a:ext cx="1024128" cy="438912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828032"/>
            <a:ext cx="10241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ejaVu Sans"/>
              </a:rPr>
              <a:t>VOICE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8833104" y="3255264"/>
            <a:ext cx="109728" cy="1792224"/>
          </a:xfrm>
          <a:prstGeom prst="line">
            <a:avLst/>
          </a:prstGeom>
          <a:ln w="16510">
            <a:solidFill>
              <a:srgbClr val="EE3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812280" y="4315968"/>
            <a:ext cx="1024128" cy="438912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4315968"/>
            <a:ext cx="10241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ejaVu Sans"/>
              </a:rPr>
              <a:t>PHOTO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7324344" y="3255264"/>
            <a:ext cx="1618488" cy="1280160"/>
          </a:xfrm>
          <a:prstGeom prst="line">
            <a:avLst/>
          </a:prstGeom>
          <a:ln w="16510">
            <a:solidFill>
              <a:srgbClr val="EE3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8302752" y="2816352"/>
            <a:ext cx="146304" cy="146304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8375904" y="2889504"/>
            <a:ext cx="566928" cy="365760"/>
          </a:xfrm>
          <a:prstGeom prst="line">
            <a:avLst/>
          </a:prstGeom>
          <a:ln w="16510">
            <a:solidFill>
              <a:srgbClr val="EE3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9326880" y="2926080"/>
            <a:ext cx="146304" cy="146304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H="1">
            <a:off x="8942832" y="2999232"/>
            <a:ext cx="457200" cy="256032"/>
          </a:xfrm>
          <a:prstGeom prst="line">
            <a:avLst/>
          </a:prstGeom>
          <a:ln w="16510">
            <a:solidFill>
              <a:srgbClr val="EE3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394192" y="3566160"/>
            <a:ext cx="146304" cy="146304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8467344" y="3255264"/>
            <a:ext cx="475488" cy="384048"/>
          </a:xfrm>
          <a:prstGeom prst="line">
            <a:avLst/>
          </a:prstGeom>
          <a:ln w="16510">
            <a:solidFill>
              <a:srgbClr val="EE3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381744" y="3602736"/>
            <a:ext cx="146304" cy="146304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 flipV="1">
            <a:off x="8942832" y="3255264"/>
            <a:ext cx="512064" cy="420624"/>
          </a:xfrm>
          <a:prstGeom prst="line">
            <a:avLst/>
          </a:prstGeom>
          <a:ln w="16510">
            <a:solidFill>
              <a:srgbClr val="EE3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8650224" y="2962656"/>
            <a:ext cx="585216" cy="585216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0224" y="2962656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DejaVu Sans"/>
              </a:rPr>
              <a:t>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78440" y="2615184"/>
            <a:ext cx="585216" cy="1005840"/>
          </a:xfrm>
          <a:prstGeom prst="roundRect">
            <a:avLst/>
          </a:prstGeom>
          <a:solidFill>
            <a:srgbClr val="0A1F4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442448" y="2724912"/>
            <a:ext cx="457200" cy="7772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648188" y="3538728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42448" y="290779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E3651"/>
                </a:solidFill>
                <a:latin typeface="DejaVu Sans"/>
              </a:rPr>
              <a:t>R0.00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60152" y="3136392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DejaVu Sans"/>
              </a:rPr>
              <a:t>AIRTIME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986016" y="5559552"/>
            <a:ext cx="4078224" cy="512064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59752" y="5669280"/>
            <a:ext cx="37307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THE SYSTEM BREAKS BEFORE HELP BEGINS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" y="651052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7F91AF"/>
                </a:solidFill>
                <a:latin typeface="DejaVu Sans"/>
              </a:rPr>
              <a:t>TSHWANE RAPIDLINK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7F91AF"/>
                </a:solidFill>
                <a:latin typeface="DejaVu Sans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ONE SIGNAL. ONE SHARED RESPONSE.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658368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F91AF"/>
                </a:solidFill>
                <a:latin typeface="DejaVu San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17904"/>
            <a:ext cx="2103120" cy="3328416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8249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01</a:t>
            </a:r>
          </a:p>
        </p:txBody>
      </p:sp>
      <p:sp>
        <p:nvSpPr>
          <p:cNvPr id="8" name="Oval 7"/>
          <p:cNvSpPr/>
          <p:nvPr/>
        </p:nvSpPr>
        <p:spPr>
          <a:xfrm>
            <a:off x="1335024" y="1901952"/>
            <a:ext cx="676656" cy="676656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81328" y="1965960"/>
            <a:ext cx="365760" cy="566928"/>
          </a:xfrm>
          <a:prstGeom prst="roundRect">
            <a:avLst/>
          </a:prstGeom>
          <a:solidFill>
            <a:srgbClr val="17386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45336" y="2075688"/>
            <a:ext cx="237744" cy="33832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41348" y="2450592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37360" y="1920240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192024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779776"/>
            <a:ext cx="18105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255263"/>
            <a:ext cx="177393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8C4D9"/>
                </a:solidFill>
                <a:latin typeface="DejaVu Sans"/>
              </a:rPr>
              <a:t>Voice · text · photo
USSD · 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4425696"/>
            <a:ext cx="1371599" cy="4572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2697480" y="2980944"/>
            <a:ext cx="228600" cy="420624"/>
          </a:xfrm>
          <a:prstGeom prst="chevron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98648" y="1517904"/>
            <a:ext cx="2103120" cy="3328416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81528" y="168249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02</a:t>
            </a:r>
          </a:p>
        </p:txBody>
      </p:sp>
      <p:sp>
        <p:nvSpPr>
          <p:cNvPr id="20" name="Oval 19"/>
          <p:cNvSpPr/>
          <p:nvPr/>
        </p:nvSpPr>
        <p:spPr>
          <a:xfrm>
            <a:off x="3611880" y="1901952"/>
            <a:ext cx="676656" cy="676656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03320" y="2029967"/>
            <a:ext cx="512064" cy="384048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31335" y="2157984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69080" y="2157984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877056" y="2313432"/>
            <a:ext cx="173735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59352" y="1947672"/>
            <a:ext cx="0" cy="8229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922776" y="1892807"/>
            <a:ext cx="73152" cy="73152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779776"/>
            <a:ext cx="18105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TRIAGE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255263"/>
            <a:ext cx="177393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8C4D9"/>
                </a:solidFill>
                <a:latin typeface="DejaVu Sans"/>
              </a:rPr>
              <a:t>AI classification
in under 5 seconds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64408" y="4425696"/>
            <a:ext cx="1371599" cy="4572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4974336" y="2980944"/>
            <a:ext cx="228600" cy="420624"/>
          </a:xfrm>
          <a:prstGeom prst="chevron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75503" y="1517904"/>
            <a:ext cx="2103120" cy="3328416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8383" y="168249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5888736" y="1901952"/>
            <a:ext cx="676656" cy="676656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10800000">
            <a:off x="6082588" y="2240279"/>
            <a:ext cx="307238" cy="329184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38697" y="2042769"/>
            <a:ext cx="395020" cy="3950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75857" y="2179929"/>
            <a:ext cx="120700" cy="120700"/>
          </a:xfrm>
          <a:prstGeom prst="ellipse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5952744" y="2532888"/>
            <a:ext cx="566928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21807" y="2779776"/>
            <a:ext cx="18105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LOCATE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0095" y="3255263"/>
            <a:ext cx="177393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8C4D9"/>
                </a:solidFill>
                <a:latin typeface="DejaVu Sans"/>
              </a:rPr>
              <a:t>Landmark match
to GPS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41264" y="4425696"/>
            <a:ext cx="1371599" cy="4572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evron 40"/>
          <p:cNvSpPr/>
          <p:nvPr/>
        </p:nvSpPr>
        <p:spPr>
          <a:xfrm>
            <a:off x="7251191" y="2980944"/>
            <a:ext cx="228600" cy="420624"/>
          </a:xfrm>
          <a:prstGeom prst="chevron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452359" y="1517904"/>
            <a:ext cx="2103120" cy="3328416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39" y="168249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04</a:t>
            </a:r>
          </a:p>
        </p:txBody>
      </p:sp>
      <p:sp>
        <p:nvSpPr>
          <p:cNvPr id="44" name="Oval 43"/>
          <p:cNvSpPr/>
          <p:nvPr/>
        </p:nvSpPr>
        <p:spPr>
          <a:xfrm>
            <a:off x="8165591" y="1901952"/>
            <a:ext cx="676656" cy="676656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47888" y="2112264"/>
            <a:ext cx="493776" cy="301752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02751" y="2039112"/>
            <a:ext cx="20116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57615" y="1984248"/>
            <a:ext cx="9144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11895" y="2016252"/>
            <a:ext cx="1828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302751" y="235915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577072" y="235915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98663" y="2779776"/>
            <a:ext cx="18105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DISPATCH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6951" y="3255263"/>
            <a:ext cx="177393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8C4D9"/>
                </a:solidFill>
                <a:latin typeface="DejaVu Sans"/>
              </a:rPr>
              <a:t>Multi-agency
in one click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18119" y="4425696"/>
            <a:ext cx="1371599" cy="4572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evron 53"/>
          <p:cNvSpPr/>
          <p:nvPr/>
        </p:nvSpPr>
        <p:spPr>
          <a:xfrm>
            <a:off x="9528048" y="2980944"/>
            <a:ext cx="228600" cy="420624"/>
          </a:xfrm>
          <a:prstGeom prst="chevron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729215" y="1517904"/>
            <a:ext cx="2103120" cy="3328416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12095" y="168249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05</a:t>
            </a:r>
          </a:p>
        </p:txBody>
      </p:sp>
      <p:sp>
        <p:nvSpPr>
          <p:cNvPr id="57" name="Oval 56"/>
          <p:cNvSpPr/>
          <p:nvPr/>
        </p:nvSpPr>
        <p:spPr>
          <a:xfrm>
            <a:off x="10442447" y="1901952"/>
            <a:ext cx="676656" cy="676656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10533888" y="2249424"/>
            <a:ext cx="146304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680192" y="2249424"/>
            <a:ext cx="128015" cy="8229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808207" y="2084831"/>
            <a:ext cx="219456" cy="24688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0492740" y="2354580"/>
            <a:ext cx="82296" cy="82296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639044" y="2208276"/>
            <a:ext cx="82296" cy="82296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767059" y="2290572"/>
            <a:ext cx="82296" cy="82296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986515" y="2043684"/>
            <a:ext cx="82296" cy="82296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75519" y="2779776"/>
            <a:ext cx="18105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TRACK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93807" y="3255263"/>
            <a:ext cx="177393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8C4D9"/>
                </a:solidFill>
                <a:latin typeface="DejaVu Sans"/>
              </a:rPr>
              <a:t>Updates · offline mode
hospital pre-alert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094976" y="4425696"/>
            <a:ext cx="1371599" cy="4572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96112" y="5230368"/>
            <a:ext cx="10387584" cy="694944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8992" y="5376672"/>
            <a:ext cx="10021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Works with zero airtime.  </a:t>
            </a:r>
            <a:r>
              <a:rPr sz="1500" b="1">
                <a:solidFill>
                  <a:srgbClr val="FFFFFF"/>
                </a:solidFill>
                <a:latin typeface="DejaVu Sans"/>
              </a:rPr>
              <a:t>No app needed.  </a:t>
            </a:r>
            <a:r>
              <a:rPr sz="1500" b="1">
                <a:solidFill>
                  <a:srgbClr val="FFFFFF"/>
                </a:solidFill>
                <a:latin typeface="DejaVu Sans"/>
              </a:rPr>
              <a:t>Keeps working when networks fail.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" y="651052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7F91AF"/>
                </a:solidFill>
                <a:latin typeface="DejaVu Sans"/>
              </a:rPr>
              <a:t>TSHWANE RAPIDLINK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7F91AF"/>
                </a:solidFill>
                <a:latin typeface="DejaVu Sans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STRONG PRODUCTS. A DIFFERENT MANDATE.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Existing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658368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F91AF"/>
                </a:solidFill>
                <a:latin typeface="DejaVu San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26464"/>
            <a:ext cx="196596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517904"/>
            <a:ext cx="16367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DejaVu Sans"/>
              </a:rPr>
              <a:t>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15184" y="1426464"/>
            <a:ext cx="3977639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517904"/>
            <a:ext cx="36484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DejaVu Sans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6" y="1426464"/>
            <a:ext cx="4681728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1517904"/>
            <a:ext cx="43525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DejaVu Sans"/>
              </a:rPr>
              <a:t>LIMITATION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1984248"/>
            <a:ext cx="1965960" cy="676656"/>
          </a:xfrm>
          <a:prstGeom prst="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75688"/>
            <a:ext cx="163677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DejaVu Sans"/>
              </a:rPr>
              <a:t>Namola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15184" y="1984248"/>
            <a:ext cx="3977639" cy="676656"/>
          </a:xfrm>
          <a:prstGeom prst="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075688"/>
            <a:ext cx="36484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SOS app for private 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0256" y="1984248"/>
            <a:ext cx="4681728" cy="676656"/>
          </a:xfrm>
          <a:prstGeom prst="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2075688"/>
            <a:ext cx="435254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Needs smartphone +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706624"/>
            <a:ext cx="1965960" cy="676656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98064"/>
            <a:ext cx="163677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DejaVu Sans"/>
              </a:rPr>
              <a:t>AURA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15184" y="2706624"/>
            <a:ext cx="3977639" cy="676656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798064"/>
            <a:ext cx="36484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Powers FNB, Investec, Tracker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0256" y="2706624"/>
            <a:ext cx="4681728" cy="676656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2798064"/>
            <a:ext cx="435254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Private subscription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3429000"/>
            <a:ext cx="1965960" cy="676656"/>
          </a:xfrm>
          <a:prstGeom prst="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520440"/>
            <a:ext cx="163677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DejaVu Sans"/>
              </a:rPr>
              <a:t>Netstar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15184" y="3429000"/>
            <a:ext cx="3977639" cy="676656"/>
          </a:xfrm>
          <a:prstGeom prst="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520440"/>
            <a:ext cx="36484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In-car panic button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0256" y="3429000"/>
            <a:ext cx="4681728" cy="676656"/>
          </a:xfrm>
          <a:prstGeom prst="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3520440"/>
            <a:ext cx="435254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Needs installed device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4151376"/>
            <a:ext cx="1965960" cy="676656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242816"/>
            <a:ext cx="163677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DejaVu Sans"/>
              </a:rPr>
              <a:t>Community Wolf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15184" y="4151376"/>
            <a:ext cx="3977639" cy="676656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4242816"/>
            <a:ext cx="36484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WhatsApp crime reporting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0256" y="4151376"/>
            <a:ext cx="4681728" cy="676656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4848" y="4242816"/>
            <a:ext cx="435254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Not emergency dispatch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5166360"/>
            <a:ext cx="10716768" cy="713232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27608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ALL REQUIRE SMARTPHONE, DATA, CAR OR SUBSCRIPTION.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2760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DejaVu Sans"/>
              </a:rPr>
              <a:t>NONE WORK WITH ZERO AIRTIME.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7F91AF"/>
                </a:solidFill>
                <a:latin typeface="DejaVu Sans"/>
              </a:rPr>
              <a:t>TSHWANE RAPIDLINK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7F91AF"/>
                </a:solidFill>
                <a:latin typeface="DejaVu Sans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ACCESS IS THE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What Makes Us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658368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F91AF"/>
                </a:solidFill>
                <a:latin typeface="DejaVu San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08176"/>
            <a:ext cx="2103120" cy="438912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563624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01</a:t>
            </a:r>
          </a:p>
        </p:txBody>
      </p:sp>
      <p:sp>
        <p:nvSpPr>
          <p:cNvPr id="8" name="Oval 7"/>
          <p:cNvSpPr/>
          <p:nvPr/>
        </p:nvSpPr>
        <p:spPr>
          <a:xfrm>
            <a:off x="1316736" y="1892808"/>
            <a:ext cx="713232" cy="71323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62456" y="2331720"/>
            <a:ext cx="77724" cy="1463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81328" y="2231136"/>
            <a:ext cx="77724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00200" y="2121408"/>
            <a:ext cx="77724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2002536"/>
            <a:ext cx="77724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843784"/>
            <a:ext cx="1847087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DejaVu Sans"/>
              </a:rPr>
              <a:t>NO-AIRTIME
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99032" y="3730752"/>
            <a:ext cx="5486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995928"/>
            <a:ext cx="1810511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>
                <a:solidFill>
                  <a:srgbClr val="B8C4D9"/>
                </a:solidFill>
                <a:latin typeface="DejaVu Sans"/>
              </a:rPr>
              <a:t>Data → SMS → USSD → Call
MTN *130*119# precedent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358384"/>
            <a:ext cx="155447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E3651"/>
                </a:solidFill>
                <a:latin typeface="DejaVu Sans"/>
              </a:rPr>
              <a:t>CITY-SCALE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8648" y="1408176"/>
            <a:ext cx="2103120" cy="438912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1563624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02</a:t>
            </a:r>
          </a:p>
        </p:txBody>
      </p:sp>
      <p:sp>
        <p:nvSpPr>
          <p:cNvPr id="19" name="Oval 18"/>
          <p:cNvSpPr/>
          <p:nvPr/>
        </p:nvSpPr>
        <p:spPr>
          <a:xfrm>
            <a:off x="3593591" y="1892808"/>
            <a:ext cx="713232" cy="71323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3730752" y="2075688"/>
            <a:ext cx="347472" cy="4572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730752" y="2121408"/>
            <a:ext cx="164592" cy="29260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895344" y="2075688"/>
            <a:ext cx="182880" cy="33832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78224" y="2075688"/>
            <a:ext cx="128016" cy="33832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895344" y="2414016"/>
            <a:ext cx="310896" cy="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675888" y="2066544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23360" y="2020824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40480" y="2359152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51376" y="2359152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2843784"/>
            <a:ext cx="1847087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DejaVu Sans"/>
              </a:rPr>
              <a:t>MULTI-AGENCY
ORCHESTRATION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3730752"/>
            <a:ext cx="5486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995928"/>
            <a:ext cx="1810511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>
                <a:solidFill>
                  <a:srgbClr val="B8C4D9"/>
                </a:solidFill>
                <a:latin typeface="DejaVu Sans"/>
              </a:rPr>
              <a:t>The right mix of responders,
not just 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72968" y="5358384"/>
            <a:ext cx="155447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E3651"/>
                </a:solidFill>
                <a:latin typeface="DejaVu Sans"/>
              </a:rPr>
              <a:t>CITY-SCALE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75503" y="1408176"/>
            <a:ext cx="2103120" cy="438912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0095" y="1563624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03</a:t>
            </a:r>
          </a:p>
        </p:txBody>
      </p:sp>
      <p:sp>
        <p:nvSpPr>
          <p:cNvPr id="35" name="Oval 34"/>
          <p:cNvSpPr/>
          <p:nvPr/>
        </p:nvSpPr>
        <p:spPr>
          <a:xfrm>
            <a:off x="5870447" y="1892808"/>
            <a:ext cx="713232" cy="71323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10800000">
            <a:off x="6073444" y="2249424"/>
            <a:ext cx="307238" cy="329184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029553" y="2051913"/>
            <a:ext cx="395020" cy="3950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66713" y="2189073"/>
            <a:ext cx="120700" cy="120700"/>
          </a:xfrm>
          <a:prstGeom prst="ellipse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5943599" y="2542032"/>
            <a:ext cx="566928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303519" y="2843784"/>
            <a:ext cx="1847087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DejaVu Sans"/>
              </a:rPr>
              <a:t>LANDMARK
LOCATION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52743" y="3730752"/>
            <a:ext cx="5486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21807" y="3995928"/>
            <a:ext cx="1810511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>
                <a:solidFill>
                  <a:srgbClr val="B8C4D9"/>
                </a:solidFill>
                <a:latin typeface="DejaVu Sans"/>
              </a:rPr>
              <a:t>Informal-settlement landmarks
resolved to GPS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9823" y="5358384"/>
            <a:ext cx="155447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E3651"/>
                </a:solidFill>
                <a:latin typeface="DejaVu Sans"/>
              </a:rPr>
              <a:t>CITY-SCALE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59" y="1408176"/>
            <a:ext cx="2103120" cy="438912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16951" y="1563624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04</a:t>
            </a:r>
          </a:p>
        </p:txBody>
      </p:sp>
      <p:sp>
        <p:nvSpPr>
          <p:cNvPr id="46" name="Oval 45"/>
          <p:cNvSpPr/>
          <p:nvPr/>
        </p:nvSpPr>
        <p:spPr>
          <a:xfrm>
            <a:off x="8147303" y="1892808"/>
            <a:ext cx="713232" cy="71323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49055" y="2395728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8339327" y="2203704"/>
            <a:ext cx="164592" cy="16459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503919" y="2203704"/>
            <a:ext cx="155448" cy="16459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8220455" y="2084832"/>
            <a:ext cx="118872" cy="11887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659367" y="2084832"/>
            <a:ext cx="118873" cy="11887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220455" y="2011680"/>
            <a:ext cx="566929" cy="502920"/>
          </a:xfrm>
          <a:prstGeom prst="line">
            <a:avLst/>
          </a:prstGeom>
          <a:ln w="38100">
            <a:solidFill>
              <a:srgbClr val="EE3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580375" y="2843784"/>
            <a:ext cx="1847087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DejaVu Sans"/>
              </a:rPr>
              <a:t>OFFLINE-FIRST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599" y="3730752"/>
            <a:ext cx="5486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98663" y="3995928"/>
            <a:ext cx="1810511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>
                <a:solidFill>
                  <a:srgbClr val="B8C4D9"/>
                </a:solidFill>
                <a:latin typeface="DejaVu Sans"/>
              </a:rPr>
              <a:t>Degrades gracefully when
networks fail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26679" y="5358384"/>
            <a:ext cx="155447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E3651"/>
                </a:solidFill>
                <a:latin typeface="DejaVu Sans"/>
              </a:rPr>
              <a:t>CITY-SCALE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29215" y="1408176"/>
            <a:ext cx="2103120" cy="438912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93807" y="1563624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05</a:t>
            </a:r>
          </a:p>
        </p:txBody>
      </p:sp>
      <p:sp>
        <p:nvSpPr>
          <p:cNvPr id="59" name="Oval 58"/>
          <p:cNvSpPr/>
          <p:nvPr/>
        </p:nvSpPr>
        <p:spPr>
          <a:xfrm>
            <a:off x="10424159" y="1892808"/>
            <a:ext cx="713232" cy="71323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543032" y="2066544"/>
            <a:ext cx="475488" cy="457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sosceles Triangle 60"/>
          <p:cNvSpPr/>
          <p:nvPr/>
        </p:nvSpPr>
        <p:spPr>
          <a:xfrm>
            <a:off x="10469880" y="1947672"/>
            <a:ext cx="621792" cy="201168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607040" y="2167128"/>
            <a:ext cx="64008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735056" y="2167128"/>
            <a:ext cx="64008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863072" y="2167128"/>
            <a:ext cx="64008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0497311" y="2532888"/>
            <a:ext cx="56692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857232" y="2843784"/>
            <a:ext cx="1847087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DejaVu Sans"/>
              </a:rPr>
              <a:t>BUILT FOR
THE CITY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06455" y="3730752"/>
            <a:ext cx="5486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75519" y="3995928"/>
            <a:ext cx="1810511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>
                <a:solidFill>
                  <a:srgbClr val="B8C4D9"/>
                </a:solidFill>
                <a:latin typeface="DejaVu Sans"/>
              </a:rPr>
              <a:t>Public infrastructure,
not private subscription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03536" y="5358384"/>
            <a:ext cx="155447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E3651"/>
                </a:solidFill>
                <a:latin typeface="DejaVu Sans"/>
              </a:rPr>
              <a:t>CITY-SCALE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" y="651052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7F91AF"/>
                </a:solidFill>
                <a:latin typeface="DejaVu Sans"/>
              </a:rPr>
              <a:t>TSHWANE RAPIDLINK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7F91AF"/>
                </a:solidFill>
                <a:latin typeface="DejaVu Sans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COMMERCIALISATION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How It Becomes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658368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F91AF"/>
                </a:solidFill>
                <a:latin typeface="DejaVu Sans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25880" y="1901952"/>
            <a:ext cx="9509760" cy="0"/>
          </a:xfrm>
          <a:prstGeom prst="line">
            <a:avLst/>
          </a:prstGeom>
          <a:ln w="381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093976" y="1728216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" y="2176272"/>
            <a:ext cx="3410712" cy="137160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EE3651"/>
                </a:solidFill>
                <a:latin typeface="DejaVu Sans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6032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98648"/>
            <a:ext cx="29626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ejaVu Sans"/>
              </a:rPr>
              <a:t>One ward · 30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136392"/>
            <a:ext cx="29626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B8C4D9"/>
                </a:solidFill>
                <a:latin typeface="DejaVu Sans"/>
              </a:rPr>
              <a:t>MTN zero-rated channel
City dispatch integration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5879592" y="1728216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62272" y="2176272"/>
            <a:ext cx="3410712" cy="137160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33172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EE3651"/>
                </a:solidFill>
                <a:latin typeface="DejaVu Sans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56032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CITY-WIDE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898648"/>
            <a:ext cx="29626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ejaVu Sans"/>
              </a:rPr>
              <a:t>Tshwane licenses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136392"/>
            <a:ext cx="29626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B8C4D9"/>
                </a:solidFill>
                <a:latin typeface="DejaVu Sans"/>
              </a:rPr>
              <a:t>MTN zero-rates permanently</a:t>
            </a:r>
          </a:p>
        </p:txBody>
      </p:sp>
      <p:sp>
        <p:nvSpPr>
          <p:cNvPr id="19" name="Oval 18"/>
          <p:cNvSpPr/>
          <p:nvPr/>
        </p:nvSpPr>
        <p:spPr>
          <a:xfrm>
            <a:off x="9665208" y="1728216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47888" y="2176272"/>
            <a:ext cx="3410712" cy="137160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344" y="233172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EE3651"/>
                </a:solidFill>
                <a:latin typeface="DejaVu Sans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56032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NATIONAL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898648"/>
            <a:ext cx="29626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ejaVu Sans"/>
              </a:rPr>
              <a:t>Johannesburg · Cape Town · Durban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136392"/>
            <a:ext cx="29626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B8C4D9"/>
                </a:solidFill>
                <a:latin typeface="DejaVu Sans"/>
              </a:rPr>
              <a:t>Same model · repeatable rollout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8587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E3651"/>
                </a:solidFill>
                <a:latin typeface="DejaVu Sans"/>
              </a:rPr>
              <a:t>WHO PAYS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187952"/>
            <a:ext cx="3410712" cy="694944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32511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DejaVu Sans"/>
              </a:rPr>
              <a:t>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9072" y="4297680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19" b="0">
                <a:solidFill>
                  <a:srgbClr val="B8C4D9"/>
                </a:solidFill>
                <a:latin typeface="DejaVu Sans"/>
              </a:rPr>
              <a:t>Platform licensing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8848" y="4187952"/>
            <a:ext cx="3410712" cy="694944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32511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DejaVu Sans"/>
              </a:rPr>
              <a:t>MTN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4688" y="4297680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19" b="0">
                <a:solidFill>
                  <a:srgbClr val="B8C4D9"/>
                </a:solidFill>
                <a:latin typeface="DejaVu Sans"/>
              </a:rPr>
              <a:t>Zero-rating as social responsibility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84463" y="4187952"/>
            <a:ext cx="3410712" cy="694944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3" y="432511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DejaVu Sans"/>
              </a:rPr>
              <a:t>CITIZEN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0303" y="4297680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19" b="0">
                <a:solidFill>
                  <a:srgbClr val="B8C4D9"/>
                </a:solidFill>
                <a:latin typeface="DejaVu Sans"/>
              </a:rPr>
              <a:t>Never pays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5257800"/>
            <a:ext cx="10808208" cy="713232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3949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ONE WARD. THIRTY DAYS.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2312" y="5385816"/>
            <a:ext cx="64190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DejaVu Sans"/>
              </a:rPr>
              <a:t>Every minute saved is a life saved.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51052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7F91AF"/>
                </a:solidFill>
                <a:latin typeface="DejaVu Sans"/>
              </a:rPr>
              <a:t>TSHWANE RAPIDLINK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7F91AF"/>
                </a:solidFill>
                <a:latin typeface="DejaVu Sans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Tshwane RapidLink</dc:title>
  <dc:subject>Tshwane Varsity Hackathon 2026 pitch</dc:subject>
  <dc:creator>Tshwane RapidLink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